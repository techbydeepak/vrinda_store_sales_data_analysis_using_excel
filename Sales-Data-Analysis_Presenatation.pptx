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Medium"/>
      <p:regular r:id="rId201314"/>
    </p:embeddedFont>
    <p:embeddedFont>
      <p:font typeface="DM Sans Bold"/>
      <p:regular r:id="rId201315"/>
    </p:embeddedFont>
    <p:embeddedFont>
      <p:font typeface="Inter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DEB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987" y="92943"/>
            <a:ext cx="3305026" cy="4957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31826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Vrinda Store Sales Data Analysis (2022)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592958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Excel-Based Sales Dashboard &amp; Business Insights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2935709"/>
            <a:ext cx="1475854" cy="233214"/>
          </a:xfrm>
          <a:prstGeom prst="roundRect">
            <a:avLst>
              <a:gd name="adj" fmla="val 6383"/>
            </a:avLst>
          </a:prstGeom>
          <a:solidFill>
            <a:srgbClr val="E3E3E8"/>
          </a:solidFill>
          <a:ln/>
        </p:spPr>
      </p:sp>
      <p:sp>
        <p:nvSpPr>
          <p:cNvPr id="7" name="Text 4"/>
          <p:cNvSpPr/>
          <p:nvPr/>
        </p:nvSpPr>
        <p:spPr>
          <a:xfrm>
            <a:off x="570533" y="2972916"/>
            <a:ext cx="178422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ANALYST PORTFOLIO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033960" y="2930947"/>
            <a:ext cx="1088827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2828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13136" y="2972916"/>
            <a:ext cx="138767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EXCEL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6119" y="3313212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by Deepak Rathour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428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19858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analyzes the full-year 2022 sales data of Vrinda Store using Microsoft Excel. The goal was to transform raw transactional data into a structured, interactive dashboard that reveals meaningful patterns in customer behavior, regional performance, and channel effectiveness — enabling data-driven decision-making for business stakeholders.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454771"/>
            <a:ext cx="4103191" cy="1604442"/>
          </a:xfrm>
          <a:prstGeom prst="roundRect">
            <a:avLst>
              <a:gd name="adj" fmla="val 1160"/>
            </a:avLst>
          </a:prstGeom>
          <a:solidFill>
            <a:srgbClr val="28282F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57874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Was Analyzed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896567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sales trends across all product categories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demographics: age, gender, and location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fulfillment status and delivery performance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platform channel performance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57874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Deliverables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8046" y="2912120"/>
            <a:ext cx="1900312" cy="441796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9" name="Text 7"/>
          <p:cNvSpPr/>
          <p:nvPr/>
        </p:nvSpPr>
        <p:spPr>
          <a:xfrm>
            <a:off x="4852020" y="303609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52332" y="2912120"/>
            <a:ext cx="1900312" cy="441796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11" name="Text 9"/>
          <p:cNvSpPr/>
          <p:nvPr/>
        </p:nvSpPr>
        <p:spPr>
          <a:xfrm>
            <a:off x="6876306" y="303609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8046" y="3477890"/>
            <a:ext cx="1900312" cy="441796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13" name="Text 11"/>
          <p:cNvSpPr/>
          <p:nvPr/>
        </p:nvSpPr>
        <p:spPr>
          <a:xfrm>
            <a:off x="4852020" y="3601864"/>
            <a:ext cx="162170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52332" y="3477890"/>
            <a:ext cx="1900312" cy="441796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15" name="Text 13"/>
          <p:cNvSpPr/>
          <p:nvPr/>
        </p:nvSpPr>
        <p:spPr>
          <a:xfrm>
            <a:off x="6876306" y="36018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Insights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9672"/>
            <a:ext cx="3219152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Objectives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891704"/>
            <a:ext cx="815176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focused objectives guided this analysis — from measuring overall sales performance to generating targeted recommendations for marketing and channel strategy.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36625"/>
            <a:ext cx="220935" cy="2209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680493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Sales Performance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912144"/>
            <a:ext cx="26353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total revenue, order volume, and monthly sales trends across 2022.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350" y="1336625"/>
            <a:ext cx="220935" cy="2209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54350" y="1680493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Behavior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254350" y="1912144"/>
            <a:ext cx="26353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purchasing patterns segmented by age, gender, and geography.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2582" y="1336625"/>
            <a:ext cx="220935" cy="2209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12582" y="1680493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Gender Analysis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012582" y="1912144"/>
            <a:ext cx="2635300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purchase contributions between male and female customers to identify the primary buyer profile.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610296"/>
            <a:ext cx="220935" cy="2209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2954164"/>
            <a:ext cx="147592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Top-Performing States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96119" y="3185815"/>
            <a:ext cx="26353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Indian states by sales contribution to prioritize regional marketing investment.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4350" y="2610296"/>
            <a:ext cx="220935" cy="2209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54350" y="2954164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Order Status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3254350" y="3185815"/>
            <a:ext cx="26353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fulfillment rates, cancellations, and returns to assess operational efficiency.</a:t>
            </a:r>
            <a:endParaRPr lang="en-US" sz="8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2582" y="2610296"/>
            <a:ext cx="220935" cy="22093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12582" y="2954164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Sales Channels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6012582" y="3185815"/>
            <a:ext cx="2635300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performance across Amazon, Flipkart, and Myntra to identify the most effective platforms.</a:t>
            </a:r>
            <a:endParaRPr lang="en-US" sz="8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3883968"/>
            <a:ext cx="220935" cy="22093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6119" y="4227835"/>
            <a:ext cx="1829991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Recommendations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496119" y="4459486"/>
            <a:ext cx="26353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analytical findings into targeted strategies for revenue growth.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77503"/>
            <a:ext cx="3025304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Tools &amp; Technologies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643" y="868561"/>
            <a:ext cx="810064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relied entirely on Microsoft Excel as the core analytical engine. No external BI tools were required — demonstrating that Excel's native features are sufficient to build professional-grade, interactive sales dashboards.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21643" y="1264593"/>
            <a:ext cx="4007793" cy="1110407"/>
          </a:xfrm>
          <a:prstGeom prst="roundRect">
            <a:avLst>
              <a:gd name="adj" fmla="val 1388"/>
            </a:avLst>
          </a:prstGeom>
          <a:solidFill>
            <a:srgbClr val="EDEBE3"/>
          </a:solidFill>
          <a:ln/>
        </p:spPr>
      </p:sp>
      <p:sp>
        <p:nvSpPr>
          <p:cNvPr id="5" name="Shape 3"/>
          <p:cNvSpPr/>
          <p:nvPr/>
        </p:nvSpPr>
        <p:spPr>
          <a:xfrm>
            <a:off x="624334" y="1367284"/>
            <a:ext cx="308149" cy="308149"/>
          </a:xfrm>
          <a:prstGeom prst="roundRect">
            <a:avLst>
              <a:gd name="adj" fmla="val 18544368"/>
            </a:avLst>
          </a:prstGeom>
          <a:solidFill>
            <a:srgbClr val="2828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092" y="1452042"/>
            <a:ext cx="138633" cy="1386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334" y="1760488"/>
            <a:ext cx="12840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Microsoft Excel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334" y="1971973"/>
            <a:ext cx="380241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platform for all data manipulation, analysis, and visualization.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14490" y="1264593"/>
            <a:ext cx="4007793" cy="1110407"/>
          </a:xfrm>
          <a:prstGeom prst="roundRect">
            <a:avLst>
              <a:gd name="adj" fmla="val 1388"/>
            </a:avLst>
          </a:prstGeom>
          <a:solidFill>
            <a:srgbClr val="EDEBE3"/>
          </a:solidFill>
          <a:ln/>
        </p:spPr>
      </p:sp>
      <p:sp>
        <p:nvSpPr>
          <p:cNvPr id="10" name="Shape 7"/>
          <p:cNvSpPr/>
          <p:nvPr/>
        </p:nvSpPr>
        <p:spPr>
          <a:xfrm>
            <a:off x="4717182" y="1367284"/>
            <a:ext cx="308149" cy="308149"/>
          </a:xfrm>
          <a:prstGeom prst="roundRect">
            <a:avLst>
              <a:gd name="adj" fmla="val 18544368"/>
            </a:avLst>
          </a:prstGeom>
          <a:solidFill>
            <a:srgbClr val="2828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939" y="1452042"/>
            <a:ext cx="138633" cy="1386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7182" y="1760488"/>
            <a:ext cx="12840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Pivot Tables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17182" y="1971973"/>
            <a:ext cx="380241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and summarized large datasets to uncover sales patterns by category, region, and demographic.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21643" y="2460054"/>
            <a:ext cx="4007793" cy="1110407"/>
          </a:xfrm>
          <a:prstGeom prst="roundRect">
            <a:avLst>
              <a:gd name="adj" fmla="val 1388"/>
            </a:avLst>
          </a:prstGeom>
          <a:solidFill>
            <a:srgbClr val="EDEBE3"/>
          </a:solidFill>
          <a:ln/>
        </p:spPr>
      </p:sp>
      <p:sp>
        <p:nvSpPr>
          <p:cNvPr id="15" name="Shape 11"/>
          <p:cNvSpPr/>
          <p:nvPr/>
        </p:nvSpPr>
        <p:spPr>
          <a:xfrm>
            <a:off x="624334" y="2562746"/>
            <a:ext cx="308149" cy="308149"/>
          </a:xfrm>
          <a:prstGeom prst="roundRect">
            <a:avLst>
              <a:gd name="adj" fmla="val 18544368"/>
            </a:avLst>
          </a:prstGeom>
          <a:solidFill>
            <a:srgbClr val="2828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092" y="2647504"/>
            <a:ext cx="138633" cy="13863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334" y="2955950"/>
            <a:ext cx="12840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Pivot Charts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24334" y="3167435"/>
            <a:ext cx="380241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charts linked to pivot tables for instant visual representation of key metrics.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14490" y="2460054"/>
            <a:ext cx="4007793" cy="1110407"/>
          </a:xfrm>
          <a:prstGeom prst="roundRect">
            <a:avLst>
              <a:gd name="adj" fmla="val 1388"/>
            </a:avLst>
          </a:prstGeom>
          <a:solidFill>
            <a:srgbClr val="EDEBE3"/>
          </a:solidFill>
          <a:ln/>
        </p:spPr>
      </p:sp>
      <p:sp>
        <p:nvSpPr>
          <p:cNvPr id="20" name="Shape 15"/>
          <p:cNvSpPr/>
          <p:nvPr/>
        </p:nvSpPr>
        <p:spPr>
          <a:xfrm>
            <a:off x="4717182" y="2562746"/>
            <a:ext cx="308149" cy="308149"/>
          </a:xfrm>
          <a:prstGeom prst="roundRect">
            <a:avLst>
              <a:gd name="adj" fmla="val 18544368"/>
            </a:avLst>
          </a:prstGeom>
          <a:solidFill>
            <a:srgbClr val="28282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1939" y="2647504"/>
            <a:ext cx="138633" cy="13863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17182" y="2955950"/>
            <a:ext cx="12840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Slicers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717182" y="3167435"/>
            <a:ext cx="380241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filter controls enabling users to segment dashboard views by time, state, or channel.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21643" y="3655516"/>
            <a:ext cx="4007793" cy="1110407"/>
          </a:xfrm>
          <a:prstGeom prst="roundRect">
            <a:avLst>
              <a:gd name="adj" fmla="val 1388"/>
            </a:avLst>
          </a:prstGeom>
          <a:solidFill>
            <a:srgbClr val="EDEBE3"/>
          </a:solidFill>
          <a:ln/>
        </p:spPr>
      </p:sp>
      <p:sp>
        <p:nvSpPr>
          <p:cNvPr id="25" name="Shape 19"/>
          <p:cNvSpPr/>
          <p:nvPr/>
        </p:nvSpPr>
        <p:spPr>
          <a:xfrm>
            <a:off x="624334" y="3758208"/>
            <a:ext cx="308149" cy="308149"/>
          </a:xfrm>
          <a:prstGeom prst="roundRect">
            <a:avLst>
              <a:gd name="adj" fmla="val 18544368"/>
            </a:avLst>
          </a:prstGeom>
          <a:solidFill>
            <a:srgbClr val="2828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9092" y="3842965"/>
            <a:ext cx="138633" cy="13863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4334" y="4151412"/>
            <a:ext cx="12840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24334" y="4362896"/>
            <a:ext cx="380241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duplicates, handled nulls, standardized formats, and validated data integrity before analysis.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4614490" y="3655516"/>
            <a:ext cx="4007793" cy="1110407"/>
          </a:xfrm>
          <a:prstGeom prst="roundRect">
            <a:avLst>
              <a:gd name="adj" fmla="val 1388"/>
            </a:avLst>
          </a:prstGeom>
          <a:solidFill>
            <a:srgbClr val="EDEBE3"/>
          </a:solidFill>
          <a:ln/>
        </p:spPr>
      </p:sp>
      <p:sp>
        <p:nvSpPr>
          <p:cNvPr id="30" name="Shape 23"/>
          <p:cNvSpPr/>
          <p:nvPr/>
        </p:nvSpPr>
        <p:spPr>
          <a:xfrm>
            <a:off x="4717182" y="3758208"/>
            <a:ext cx="308149" cy="308149"/>
          </a:xfrm>
          <a:prstGeom prst="roundRect">
            <a:avLst>
              <a:gd name="adj" fmla="val 18544368"/>
            </a:avLst>
          </a:prstGeom>
          <a:solidFill>
            <a:srgbClr val="28282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1939" y="3842965"/>
            <a:ext cx="138633" cy="13863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17182" y="4151412"/>
            <a:ext cx="12840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Design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717182" y="4362896"/>
            <a:ext cx="380241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a cohesive, multi-sheet dashboard with consistent formatting and clear visual hierarchy.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368498"/>
            <a:ext cx="2637606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Analysis Workflow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438721" y="718617"/>
            <a:ext cx="6266557" cy="208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seven-step process ensured data quality and analytical rigor — from raw data ingestion through to actionable business recommendations. Each step built on the previous, creating a reliable and repeatable analysis pipeline.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721" y="984349"/>
            <a:ext cx="6266557" cy="352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721" y="4566493"/>
            <a:ext cx="6266557" cy="208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end-to-end workflow demonstrates a disciplined approach to data analysis — ensuring that every insight is grounded in clean, well-structured data and validated through multiple analytical layers before being presented as a business recommendation.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63364"/>
            <a:ext cx="3267224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Excel Interactive Dashboard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09452" y="747043"/>
            <a:ext cx="6725022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deliverable is a fully interactive Excel dashboard that consolidates all key metrics into a single, filterable view. Slicers allow stakeholders to drill into specific time periods, states, or channels — making it a practical tool for ongoing business reviews.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452" y="1109142"/>
            <a:ext cx="3605064" cy="3605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7340" y="1101775"/>
            <a:ext cx="168607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Components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7815" y="1300981"/>
            <a:ext cx="1436117" cy="611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50718" y="1395785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Orders vs. Sales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150718" y="1587624"/>
            <a:ext cx="1208410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 and order volume trend comparison</a:t>
            </a:r>
            <a:endParaRPr lang="en-US" sz="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2971" y="1300981"/>
            <a:ext cx="1436191" cy="611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35874" y="1395785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Men vs. Women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6635874" y="1587624"/>
            <a:ext cx="120848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Gender-based purchase share and spend analysis</a:t>
            </a:r>
            <a:endParaRPr lang="en-US" sz="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7815" y="1971229"/>
            <a:ext cx="1436117" cy="611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50718" y="2066032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Order Status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5150718" y="2257871"/>
            <a:ext cx="1208410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Delivered, cancelled, and returned order breakdown</a:t>
            </a:r>
            <a:endParaRPr lang="en-US" sz="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02971" y="1971229"/>
            <a:ext cx="1436191" cy="6116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35874" y="2066032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 5 States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6635874" y="2257871"/>
            <a:ext cx="120848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state-level sales contribution chart</a:t>
            </a:r>
            <a:endParaRPr lang="en-US" sz="6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17815" y="2641476"/>
            <a:ext cx="1436117" cy="6116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50718" y="2736279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Age vs. Gender</a:t>
            </a:r>
            <a:endParaRPr lang="en-US" sz="800" dirty="0"/>
          </a:p>
        </p:txBody>
      </p:sp>
      <p:sp>
        <p:nvSpPr>
          <p:cNvPr id="20" name="Text 12"/>
          <p:cNvSpPr/>
          <p:nvPr/>
        </p:nvSpPr>
        <p:spPr>
          <a:xfrm>
            <a:off x="5150718" y="2928119"/>
            <a:ext cx="1208410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 cross-tabulation of buyer segments</a:t>
            </a:r>
            <a:endParaRPr lang="en-US" sz="6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02971" y="2641476"/>
            <a:ext cx="1436191" cy="6116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35874" y="2736279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Channel Analysis</a:t>
            </a:r>
            <a:endParaRPr lang="en-US" sz="800" dirty="0"/>
          </a:p>
        </p:txBody>
      </p:sp>
      <p:sp>
        <p:nvSpPr>
          <p:cNvPr id="23" name="Text 14"/>
          <p:cNvSpPr/>
          <p:nvPr/>
        </p:nvSpPr>
        <p:spPr>
          <a:xfrm>
            <a:off x="6635874" y="2928119"/>
            <a:ext cx="120848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distribution across Amazon, Flipkart &amp; Myntra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5281"/>
            <a:ext cx="7478688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Insight 1: Women Customers Dominated Sales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53542"/>
            <a:ext cx="8151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customers were the overwhelming driver of Vrinda Store's 2022 revenue, accounting for approximately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64–65% of total sales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nearly twice the contribution of male customers. This pattern held consistently across product categories and sales channels throughout the year.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58628" y="2243882"/>
            <a:ext cx="1478012" cy="30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65%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405" y="1492895"/>
            <a:ext cx="1802532" cy="18025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6572" y="3441799"/>
            <a:ext cx="15021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Women's Share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3699346"/>
            <a:ext cx="400310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sales revenue in 2022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07212" y="2243882"/>
            <a:ext cx="1478012" cy="30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35%</a:t>
            </a:r>
            <a:endParaRPr lang="en-US" sz="2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989" y="1492895"/>
            <a:ext cx="1802532" cy="18025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5231" y="3441799"/>
            <a:ext cx="15021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Men's Share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644703" y="3699346"/>
            <a:ext cx="4003179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sales revenue in 2022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96119" y="4019476"/>
            <a:ext cx="8151763" cy="647849"/>
          </a:xfrm>
          <a:prstGeom prst="roundRect">
            <a:avLst>
              <a:gd name="adj" fmla="val 2782"/>
            </a:avLst>
          </a:prstGeom>
          <a:solidFill>
            <a:srgbClr val="B6D6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23" y="4188247"/>
            <a:ext cx="150168" cy="1201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6495" y="4154165"/>
            <a:ext cx="7641282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Conclusion: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Women are the primary target audience for Vrinda Store. Marketing budgets, product assortments, and promotional campaigns should be designed primarily around female customer preferences and purchasing behavior.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76089"/>
            <a:ext cx="4684588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Insight 2: Top-Performing States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74489" y="842516"/>
            <a:ext cx="7794947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Indian states accounted for the majority of Vrinda Store's 2022 sales volume. </a:t>
            </a:r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Maharashtra, Karnataka, and Uttar Pradesh</a:t>
            </a:r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emerged as the highest-revenue regions, reflecting strong urban purchasing power and high e-commerce penetration in these areas.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1303734"/>
            <a:ext cx="3375050" cy="33750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5403" y="1303734"/>
            <a:ext cx="2049959" cy="999009"/>
          </a:xfrm>
          <a:prstGeom prst="roundRect">
            <a:avLst>
              <a:gd name="adj" fmla="val 1484"/>
            </a:avLst>
          </a:prstGeom>
          <a:solidFill>
            <a:srgbClr val="EDEBE3"/>
          </a:solidFill>
          <a:ln/>
        </p:spPr>
      </p:sp>
      <p:sp>
        <p:nvSpPr>
          <p:cNvPr id="6" name="Text 3"/>
          <p:cNvSpPr/>
          <p:nvPr/>
        </p:nvSpPr>
        <p:spPr>
          <a:xfrm>
            <a:off x="4394225" y="1402556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🥇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Maharashtra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394225" y="1635696"/>
            <a:ext cx="1852315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sales contribution — driven by Mumbai and Pune's strong urban consumer base and high digital adoption.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424092" y="1303734"/>
            <a:ext cx="2050033" cy="999009"/>
          </a:xfrm>
          <a:prstGeom prst="roundRect">
            <a:avLst>
              <a:gd name="adj" fmla="val 1484"/>
            </a:avLst>
          </a:prstGeom>
          <a:solidFill>
            <a:srgbClr val="EDEBE3"/>
          </a:solidFill>
          <a:ln/>
        </p:spPr>
      </p:sp>
      <p:sp>
        <p:nvSpPr>
          <p:cNvPr id="9" name="Text 6"/>
          <p:cNvSpPr/>
          <p:nvPr/>
        </p:nvSpPr>
        <p:spPr>
          <a:xfrm>
            <a:off x="6522913" y="1402556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🥈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Karnataka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22913" y="1635696"/>
            <a:ext cx="185238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Second-largest contributor — Bengaluru's tech-savvy population and high disposable income fuel consistent demand.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295403" y="2381473"/>
            <a:ext cx="4178722" cy="714896"/>
          </a:xfrm>
          <a:prstGeom prst="roundRect">
            <a:avLst>
              <a:gd name="adj" fmla="val 2074"/>
            </a:avLst>
          </a:prstGeom>
          <a:solidFill>
            <a:srgbClr val="EDEBE3"/>
          </a:solidFill>
          <a:ln/>
        </p:spPr>
      </p:sp>
      <p:sp>
        <p:nvSpPr>
          <p:cNvPr id="12" name="Text 9"/>
          <p:cNvSpPr/>
          <p:nvPr/>
        </p:nvSpPr>
        <p:spPr>
          <a:xfrm>
            <a:off x="4394225" y="2480295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🥉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Uttar Pradesh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94225" y="2713434"/>
            <a:ext cx="3981078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in rankings — large population base and growing tier-2 city e-commerce adoption drive significant volume.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295403" y="3184922"/>
            <a:ext cx="4178722" cy="475208"/>
          </a:xfrm>
          <a:prstGeom prst="roundRect">
            <a:avLst>
              <a:gd name="adj" fmla="val 3120"/>
            </a:avLst>
          </a:prstGeom>
          <a:solidFill>
            <a:srgbClr val="D6D6D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25" y="3326755"/>
            <a:ext cx="123527" cy="9882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6574" y="3280470"/>
            <a:ext cx="3758729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Recommendation:</a:t>
            </a:r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Prioritize these three states for targeted digital ad spend, localized promotions, and expanded product availability.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59346"/>
            <a:ext cx="5834211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Insights 3 &amp; 4: Age Group &amp; Sales Channels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50912" y="813569"/>
            <a:ext cx="7642101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additional findings sharpen the customer profile and channel strategy: adults aged </a:t>
            </a:r>
            <a:pPr algn="l" indent="0" marL="0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30–49</a:t>
            </a:r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 the highest-value demographic, and sales are heavily concentrated on </a:t>
            </a:r>
            <a:pPr algn="l" indent="0" marL="0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e-commerce marketplaces</a:t>
            </a:r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81186" y="1174775"/>
            <a:ext cx="3842296" cy="3609380"/>
          </a:xfrm>
          <a:prstGeom prst="roundRect">
            <a:avLst>
              <a:gd name="adj" fmla="val 403"/>
            </a:avLst>
          </a:prstGeom>
          <a:solidFill>
            <a:srgbClr val="28282F"/>
          </a:solidFill>
          <a:ln/>
        </p:spPr>
      </p:sp>
      <p:sp>
        <p:nvSpPr>
          <p:cNvPr id="5" name="Text 3"/>
          <p:cNvSpPr/>
          <p:nvPr/>
        </p:nvSpPr>
        <p:spPr>
          <a:xfrm>
            <a:off x="778073" y="1250454"/>
            <a:ext cx="2682776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 Customer Age Group: 30–49 Years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8073" y="1477566"/>
            <a:ext cx="3648521" cy="414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Adults aged 30–49 contributed the maximum share of total sales in 2022. This segment typically has stable incomes, established purchasing habits, and higher average order values compared to younger demographics.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8073" y="1959769"/>
            <a:ext cx="3648521" cy="467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purchasing power among all age brackets</a:t>
            </a:r>
            <a:endParaRPr lang="en-US" sz="75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repeat-purchase behavior</a:t>
            </a:r>
            <a:endParaRPr lang="en-US" sz="75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engagement across all product categories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94858" y="1250454"/>
            <a:ext cx="3005435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Best Sales Channels: E-Commerce Platforms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94858" y="1477566"/>
            <a:ext cx="3702844" cy="414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Vrinda Store's sales are highly dependent on third-party e-commerce marketplaces. The top three channels — </a:t>
            </a:r>
            <a:pPr algn="l" indent="0" marL="0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Amazon, Flipkart, and Myntra</a:t>
            </a:r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collectively dominate order volume and revenue.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4858" y="1976810"/>
            <a:ext cx="3702844" cy="8569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73577" y="2045568"/>
            <a:ext cx="14533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06032" y="2357438"/>
            <a:ext cx="1211387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Amazon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06032" y="2584549"/>
            <a:ext cx="3480495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channel by order volume and revenue</a:t>
            </a:r>
            <a:endParaRPr lang="en-US" sz="7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858" y="2909441"/>
            <a:ext cx="3702844" cy="8569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73577" y="2978200"/>
            <a:ext cx="14533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06032" y="3290069"/>
            <a:ext cx="1211387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Flipkart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806032" y="3517181"/>
            <a:ext cx="3480495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second — especially in tier-2 cities</a:t>
            </a:r>
            <a:endParaRPr lang="en-US" sz="7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4858" y="3842072"/>
            <a:ext cx="3702844" cy="8569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577" y="3910831"/>
            <a:ext cx="14533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06032" y="4222700"/>
            <a:ext cx="1211387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Myntra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806032" y="4449812"/>
            <a:ext cx="3480495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Fashion-focused — high conversion among women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DEB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78" y="75530"/>
            <a:ext cx="3328243" cy="4992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47439"/>
            <a:ext cx="494191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Final Recommendations &amp; Conclusion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925119" y="785143"/>
            <a:ext cx="4722763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the full analysis, a clear and actionable growth strategy emerges. Vrinda Store should concentrate resources on its highest-value customer segment and strongest channels to maximize return on marketing investment.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315492"/>
            <a:ext cx="503932" cy="6046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10906" y="1416248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Target Audience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10906" y="1622822"/>
            <a:ext cx="413697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aged 30–49 in Maharashtra, Karnataka &amp; Uttar Pradesh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20180"/>
            <a:ext cx="503932" cy="6046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10906" y="2020937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Marketing Tactics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510906" y="2227511"/>
            <a:ext cx="413697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Discounts, coupons, targeted ads, and seasonal promotional campaigns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524869"/>
            <a:ext cx="503932" cy="6046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10906" y="2625626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Primary Channels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510906" y="2832199"/>
            <a:ext cx="413697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Amazon, Flipkart, and Myntra — with emphasis on Myntra for women's fashion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3129558"/>
            <a:ext cx="503932" cy="7002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10906" y="3230314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Expected Outcome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4510906" y="3436888"/>
            <a:ext cx="4136975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conversion rates, improved customer retention, and increased average order value</a:t>
            </a:r>
            <a:endParaRPr lang="en-US" sz="750" dirty="0"/>
          </a:p>
        </p:txBody>
      </p:sp>
      <p:sp>
        <p:nvSpPr>
          <p:cNvPr id="18" name="Shape 11"/>
          <p:cNvSpPr/>
          <p:nvPr/>
        </p:nvSpPr>
        <p:spPr>
          <a:xfrm>
            <a:off x="3925119" y="3921919"/>
            <a:ext cx="4722763" cy="635868"/>
          </a:xfrm>
          <a:prstGeom prst="roundRect">
            <a:avLst>
              <a:gd name="adj" fmla="val 2378"/>
            </a:avLst>
          </a:prstGeom>
          <a:solidFill>
            <a:srgbClr val="B6FCB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875" y="4059659"/>
            <a:ext cx="125983" cy="10075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252615" y="4020741"/>
            <a:ext cx="4294510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Achievement: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transformed raw 2022 sales data into a fully interactive Excel dashboard with actionable business insights — demonstrating end-to-end data analysis capability from cleaning to strategic recommendation.</a:t>
            </a:r>
            <a:endParaRPr lang="en-US" sz="750" dirty="0"/>
          </a:p>
        </p:txBody>
      </p:sp>
      <p:sp>
        <p:nvSpPr>
          <p:cNvPr id="21" name="Text 13"/>
          <p:cNvSpPr/>
          <p:nvPr/>
        </p:nvSpPr>
        <p:spPr>
          <a:xfrm>
            <a:off x="3925119" y="4649912"/>
            <a:ext cx="517996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i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— Deepak Rathour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2026-06-12T08:17:31Z</dcterms:created>
  <dcterms:modified xsi:type="dcterms:W3CDTF">2026-06-12T08:17:31Z</dcterms:modified>
</cp:coreProperties>
</file>